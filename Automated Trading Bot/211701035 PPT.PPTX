
<file path=[Content_Types].xml><?xml version="1.0" encoding="utf-8"?>
<Types xmlns="http://schemas.openxmlformats.org/package/2006/content-types">
  <Default Extension="emf" ContentType="image/x-emf"/>
  <Default Extension="fntdata" ContentType="application/x-fontdata"/>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22"/>
  </p:notesMasterIdLst>
  <p:sldIdLst>
    <p:sldId id="277" r:id="rId2"/>
    <p:sldId id="257" r:id="rId3"/>
    <p:sldId id="258" r:id="rId4"/>
    <p:sldId id="259" r:id="rId5"/>
    <p:sldId id="260" r:id="rId6"/>
    <p:sldId id="261" r:id="rId7"/>
    <p:sldId id="262" r:id="rId8"/>
    <p:sldId id="263" r:id="rId9"/>
    <p:sldId id="264" r:id="rId10"/>
    <p:sldId id="265" r:id="rId11"/>
    <p:sldId id="266" r:id="rId12"/>
    <p:sldId id="267" r:id="rId13"/>
    <p:sldId id="276" r:id="rId14"/>
    <p:sldId id="268" r:id="rId15"/>
    <p:sldId id="269" r:id="rId16"/>
    <p:sldId id="270" r:id="rId17"/>
    <p:sldId id="272" r:id="rId18"/>
    <p:sldId id="273" r:id="rId19"/>
    <p:sldId id="274" r:id="rId20"/>
    <p:sldId id="275" r:id="rId21"/>
  </p:sldIdLst>
  <p:sldSz cx="9144000" cy="6858000" type="screen4x3"/>
  <p:notesSz cx="6858000" cy="9144000"/>
  <p:embeddedFontLst>
    <p:embeddedFont>
      <p:font typeface="Calibri" panose="020F0502020204030204" pitchFamily="34" charset="0"/>
      <p:regular r:id="rId23"/>
      <p:bold r:id="rId24"/>
      <p:italic r:id="rId25"/>
      <p:boldItalic r:id="rId26"/>
    </p:embeddedFont>
    <p:embeddedFont>
      <p:font typeface="Open Sans ExtraBold" panose="020B0906030804020204" pitchFamily="34" charset="0"/>
      <p:bold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280" y="4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 name="Google Shape;10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8" name="Google Shape;138;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2" name="Google Shape;172;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13980682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3" name="Google Shape;193;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7" name="Google Shape;207;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8" name="Google Shape;208;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4" name="Google Shape;214;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5" name="Google Shape;215;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Calibri"/>
              <a:buNone/>
              <a:defRPr>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lvl1pPr marL="457200" lvl="0" indent="-381000" algn="l">
              <a:lnSpc>
                <a:spcPct val="114000"/>
              </a:lnSpc>
              <a:spcBef>
                <a:spcPts val="480"/>
              </a:spcBef>
              <a:spcAft>
                <a:spcPts val="0"/>
              </a:spcAft>
              <a:buClr>
                <a:schemeClr val="dk1"/>
              </a:buClr>
              <a:buSzPts val="2400"/>
              <a:buFont typeface="Noto Sans Symbols"/>
              <a:buChar char="▪"/>
              <a:defRPr sz="2400">
                <a:latin typeface="Calibri"/>
                <a:ea typeface="Calibri"/>
                <a:cs typeface="Calibri"/>
                <a:sym typeface="Calibri"/>
              </a:defRPr>
            </a:lvl1pPr>
            <a:lvl2pPr marL="914400" lvl="1" indent="-355600" algn="l">
              <a:lnSpc>
                <a:spcPct val="114000"/>
              </a:lnSpc>
              <a:spcBef>
                <a:spcPts val="400"/>
              </a:spcBef>
              <a:spcAft>
                <a:spcPts val="0"/>
              </a:spcAft>
              <a:buClr>
                <a:schemeClr val="dk1"/>
              </a:buClr>
              <a:buSzPts val="2000"/>
              <a:buFont typeface="Arial"/>
              <a:buChar char="•"/>
              <a:defRPr sz="2000">
                <a:latin typeface="Calibri"/>
                <a:ea typeface="Calibri"/>
                <a:cs typeface="Calibri"/>
                <a:sym typeface="Calibri"/>
              </a:defRPr>
            </a:lvl2pPr>
            <a:lvl3pPr marL="1371600" lvl="2" indent="-342900" algn="l">
              <a:lnSpc>
                <a:spcPct val="114000"/>
              </a:lnSpc>
              <a:spcBef>
                <a:spcPts val="360"/>
              </a:spcBef>
              <a:spcAft>
                <a:spcPts val="0"/>
              </a:spcAft>
              <a:buClr>
                <a:schemeClr val="dk1"/>
              </a:buClr>
              <a:buSzPts val="1800"/>
              <a:buChar char="•"/>
              <a:defRPr sz="1800">
                <a:latin typeface="Calibri"/>
                <a:ea typeface="Calibri"/>
                <a:cs typeface="Calibri"/>
                <a:sym typeface="Calibri"/>
              </a:defRPr>
            </a:lvl3pPr>
            <a:lvl4pPr marL="1828800" lvl="3"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4pPr>
            <a:lvl5pPr marL="2286000" lvl="4" indent="-330200" algn="l">
              <a:lnSpc>
                <a:spcPct val="114000"/>
              </a:lnSpc>
              <a:spcBef>
                <a:spcPts val="320"/>
              </a:spcBef>
              <a:spcAft>
                <a:spcPts val="0"/>
              </a:spcAft>
              <a:buClr>
                <a:schemeClr val="dk1"/>
              </a:buClr>
              <a:buSzPts val="1600"/>
              <a:buChar char="»"/>
              <a:defRPr sz="1600">
                <a:latin typeface="Calibri"/>
                <a:ea typeface="Calibri"/>
                <a:cs typeface="Calibri"/>
                <a:sym typeface="Calibri"/>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p:nvPr/>
        </p:nvSpPr>
        <p:spPr>
          <a:xfrm>
            <a:off x="0" y="647700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Department of Computer Science and Engineering</a:t>
            </a:r>
            <a:endParaRPr sz="1600">
              <a:solidFill>
                <a:srgbClr val="FFFFFF"/>
              </a:solidFill>
              <a:latin typeface="Calibri"/>
              <a:ea typeface="Calibri"/>
              <a:cs typeface="Calibri"/>
              <a:sym typeface="Calibri"/>
            </a:endParaRPr>
          </a:p>
        </p:txBody>
      </p:sp>
      <p:cxnSp>
        <p:nvCxnSpPr>
          <p:cNvPr id="23" name="Google Shape;23;p3"/>
          <p:cNvCxnSpPr/>
          <p:nvPr/>
        </p:nvCxnSpPr>
        <p:spPr>
          <a:xfrm>
            <a:off x="190500" y="914400"/>
            <a:ext cx="8763000" cy="0"/>
          </a:xfrm>
          <a:prstGeom prst="straightConnector1">
            <a:avLst/>
          </a:prstGeom>
          <a:noFill/>
          <a:ln w="9525" cap="flat" cmpd="sng">
            <a:solidFill>
              <a:srgbClr val="D8D8D8"/>
            </a:solidFill>
            <a:prstDash val="solid"/>
            <a:round/>
            <a:headEnd type="none" w="sm" len="sm"/>
            <a:tailEnd type="none" w="sm" len="sm"/>
          </a:ln>
        </p:spPr>
      </p:cxnSp>
      <p:sp>
        <p:nvSpPr>
          <p:cNvPr id="24" name="Google Shape;24;p3"/>
          <p:cNvSpPr/>
          <p:nvPr/>
        </p:nvSpPr>
        <p:spPr>
          <a:xfrm>
            <a:off x="4572000" y="6477490"/>
            <a:ext cx="4572000" cy="381000"/>
          </a:xfrm>
          <a:prstGeom prst="rect">
            <a:avLst/>
          </a:prstGeom>
          <a:solidFill>
            <a:srgbClr val="34495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rgbClr val="FFFFFF"/>
                </a:solidFill>
                <a:latin typeface="Calibri"/>
                <a:ea typeface="Calibri"/>
                <a:cs typeface="Calibri"/>
                <a:sym typeface="Calibri"/>
              </a:rPr>
              <a:t>Rajalakshmi Engineering College 		</a:t>
            </a:r>
            <a:fld id="{00000000-1234-1234-1234-123412341234}" type="slidenum">
              <a:rPr lang="en-US" sz="1600">
                <a:solidFill>
                  <a:srgbClr val="FFFFFF"/>
                </a:solidFill>
                <a:latin typeface="Calibri"/>
                <a:ea typeface="Calibri"/>
                <a:cs typeface="Calibri"/>
                <a:sym typeface="Calibri"/>
              </a:rPr>
              <a:t>‹#›</a:t>
            </a:fld>
            <a:endParaRPr sz="1600">
              <a:solidFill>
                <a:srgbClr val="FFFFFF"/>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5"/>
        <p:cNvGrpSpPr/>
        <p:nvPr/>
      </p:nvGrpSpPr>
      <p:grpSpPr>
        <a:xfrm>
          <a:off x="0" y="0"/>
          <a:ext cx="0" cy="0"/>
          <a:chOff x="0" y="0"/>
          <a:chExt cx="0" cy="0"/>
        </a:xfrm>
      </p:grpSpPr>
      <p:sp>
        <p:nvSpPr>
          <p:cNvPr id="26" name="Google Shape;26;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Open Sans ExtraBold"/>
              <a:buNone/>
              <a:defRPr b="1">
                <a:latin typeface="Open Sans ExtraBold"/>
                <a:ea typeface="Open Sans ExtraBold"/>
                <a:cs typeface="Open Sans ExtraBold"/>
                <a:sym typeface="Open Sans Extra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8" name="Google Shape;28;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4" name="Google Shape;34;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0" name="Google Shape;40;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em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3">
            <a:alphaModFix/>
          </a:blip>
          <a:srcRect l="-776" t="63278" r="776" b="-30897"/>
          <a:stretch/>
        </p:blipFill>
        <p:spPr>
          <a:xfrm>
            <a:off x="-72010" y="-2532"/>
            <a:ext cx="9216010" cy="3231811"/>
          </a:xfrm>
          <a:prstGeom prst="rect">
            <a:avLst/>
          </a:prstGeom>
          <a:noFill/>
          <a:ln>
            <a:noFill/>
          </a:ln>
        </p:spPr>
      </p:pic>
      <p:grpSp>
        <p:nvGrpSpPr>
          <p:cNvPr id="89" name="Google Shape;89;p13"/>
          <p:cNvGrpSpPr/>
          <p:nvPr/>
        </p:nvGrpSpPr>
        <p:grpSpPr>
          <a:xfrm>
            <a:off x="-14748" y="986564"/>
            <a:ext cx="9158748" cy="5149141"/>
            <a:chOff x="-14748" y="986564"/>
            <a:chExt cx="9158748" cy="5149141"/>
          </a:xfrm>
        </p:grpSpPr>
        <p:sp>
          <p:nvSpPr>
            <p:cNvPr id="90" name="Google Shape;90;p13"/>
            <p:cNvSpPr txBox="1"/>
            <p:nvPr/>
          </p:nvSpPr>
          <p:spPr>
            <a:xfrm>
              <a:off x="177781" y="4812105"/>
              <a:ext cx="4322100" cy="13236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211701035</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NANDAKUMARAN 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P </a:t>
              </a:r>
              <a:r>
                <a:rPr kumimoji="0" lang="en-US" sz="2000" b="1" i="0" u="none" strike="noStrike" kern="0" cap="none" spc="0" normalizeH="0" baseline="0" noProof="0" dirty="0" err="1">
                  <a:ln>
                    <a:noFill/>
                  </a:ln>
                  <a:solidFill>
                    <a:srgbClr val="000000"/>
                  </a:solidFill>
                  <a:effectLst/>
                  <a:uLnTx/>
                  <a:uFillTx/>
                  <a:latin typeface="Calibri"/>
                  <a:ea typeface="Calibri"/>
                  <a:cs typeface="Calibri"/>
                  <a:sym typeface="Calibri"/>
                </a:rPr>
                <a:t>Revathy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dirty="0">
                  <a:ln>
                    <a:noFill/>
                  </a:ln>
                  <a:solidFill>
                    <a:srgbClr val="000000"/>
                  </a:solidFill>
                  <a:effectLst/>
                  <a:uLnTx/>
                  <a:uFillTx/>
                  <a:latin typeface="Calibri"/>
                  <a:ea typeface="Calibri"/>
                  <a:cs typeface="Calibri"/>
                  <a:sym typeface="Calibri"/>
                </a:rPr>
                <a:t>HOD &amp; CSD</a:t>
              </a:r>
              <a:endParaRPr kumimoji="0" sz="2000" b="1" i="0" u="none" strike="noStrike" kern="0" cap="none" spc="0" normalizeH="0" baseline="0" noProof="0" dirty="0">
                <a:ln>
                  <a:noFill/>
                </a:ln>
                <a:solidFill>
                  <a:srgbClr val="000000"/>
                </a:solidFill>
                <a:effectLst/>
                <a:uLnTx/>
                <a:uFillTx/>
                <a:latin typeface="Calibri"/>
                <a:ea typeface="Calibri"/>
                <a:cs typeface="Calibri"/>
                <a:sym typeface="Calibri"/>
              </a:endParaRPr>
            </a:p>
          </p:txBody>
        </p:sp>
        <p:grpSp>
          <p:nvGrpSpPr>
            <p:cNvPr id="91" name="Google Shape;91;p13"/>
            <p:cNvGrpSpPr/>
            <p:nvPr/>
          </p:nvGrpSpPr>
          <p:grpSpPr>
            <a:xfrm>
              <a:off x="-14748" y="986564"/>
              <a:ext cx="9158748" cy="3628907"/>
              <a:chOff x="-14748" y="986564"/>
              <a:chExt cx="9158748" cy="3628907"/>
            </a:xfrm>
          </p:grpSpPr>
          <p:sp>
            <p:nvSpPr>
              <p:cNvPr id="92" name="Google Shape;92;p13"/>
              <p:cNvSpPr/>
              <p:nvPr/>
            </p:nvSpPr>
            <p:spPr>
              <a:xfrm>
                <a:off x="5003203" y="1761199"/>
                <a:ext cx="4140797" cy="2622445"/>
              </a:xfrm>
              <a:custGeom>
                <a:avLst/>
                <a:gdLst/>
                <a:ahLst/>
                <a:cxnLst/>
                <a:rect l="l" t="t" r="r" b="b"/>
                <a:pathLst>
                  <a:path w="4140797" h="2622445" extrusionOk="0">
                    <a:moveTo>
                      <a:pt x="1" y="0"/>
                    </a:moveTo>
                    <a:lnTo>
                      <a:pt x="4140797" y="0"/>
                    </a:lnTo>
                    <a:lnTo>
                      <a:pt x="4140797" y="2622445"/>
                    </a:lnTo>
                    <a:lnTo>
                      <a:pt x="0" y="2622445"/>
                    </a:lnTo>
                    <a:lnTo>
                      <a:pt x="1311223" y="1311222"/>
                    </a:lnTo>
                    <a:lnTo>
                      <a:pt x="1" y="0"/>
                    </a:lnTo>
                    <a:close/>
                  </a:path>
                </a:pathLst>
              </a:custGeom>
              <a:solidFill>
                <a:srgbClr val="00AAAD"/>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3" name="Google Shape;93;p13"/>
              <p:cNvSpPr/>
              <p:nvPr/>
            </p:nvSpPr>
            <p:spPr>
              <a:xfrm>
                <a:off x="0" y="1529371"/>
                <a:ext cx="5743977" cy="3086100"/>
              </a:xfrm>
              <a:prstGeom prst="homePlate">
                <a:avLst>
                  <a:gd name="adj" fmla="val 50000"/>
                </a:avLst>
              </a:prstGeom>
              <a:solidFill>
                <a:srgbClr val="59595B"/>
              </a:solidFill>
              <a:ln w="25400" cap="flat" cmpd="sng">
                <a:solidFill>
                  <a:srgbClr val="59595B"/>
                </a:solidFill>
                <a:prstDash val="solid"/>
                <a:round/>
                <a:headEnd type="none" w="sm" len="sm"/>
                <a:tailEnd type="none" w="sm" len="sm"/>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nvGrpSpPr>
              <p:cNvPr id="94" name="Google Shape;94;p13"/>
              <p:cNvGrpSpPr/>
              <p:nvPr/>
            </p:nvGrpSpPr>
            <p:grpSpPr>
              <a:xfrm>
                <a:off x="-14748" y="986564"/>
                <a:ext cx="4014973" cy="1075928"/>
                <a:chOff x="-19391" y="1011603"/>
                <a:chExt cx="5278947" cy="1075928"/>
              </a:xfrm>
            </p:grpSpPr>
            <p:sp>
              <p:nvSpPr>
                <p:cNvPr id="95" name="Google Shape;95;p13"/>
                <p:cNvSpPr/>
                <p:nvPr/>
              </p:nvSpPr>
              <p:spPr>
                <a:xfrm>
                  <a:off x="-19391" y="1011603"/>
                  <a:ext cx="5278947" cy="1075928"/>
                </a:xfrm>
                <a:prstGeom prst="homePlate">
                  <a:avLst>
                    <a:gd name="adj" fmla="val 50000"/>
                  </a:avLst>
                </a:prstGeom>
                <a:solidFill>
                  <a:srgbClr val="00AAAD"/>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96" name="Google Shape;96;p13"/>
                <p:cNvSpPr txBox="1"/>
                <p:nvPr/>
              </p:nvSpPr>
              <p:spPr>
                <a:xfrm>
                  <a:off x="237041" y="1195624"/>
                  <a:ext cx="4181886" cy="707886"/>
                </a:xfrm>
                <a:prstGeom prst="rect">
                  <a:avLst/>
                </a:prstGeom>
                <a:noFill/>
                <a:ln>
                  <a:noFill/>
                </a:ln>
              </p:spPr>
              <p:txBody>
                <a:bodyPr spcFirstLastPara="1" wrap="square" lIns="91425" tIns="45700" rIns="91425" bIns="45700" anchor="ctr" anchorCtr="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FFFFFF"/>
                      </a:solidFill>
                      <a:effectLst/>
                      <a:uLnTx/>
                      <a:uFillTx/>
                      <a:latin typeface="Calibri"/>
                      <a:ea typeface="Calibri"/>
                      <a:cs typeface="Calibri"/>
                      <a:sym typeface="Calibri"/>
                    </a:rPr>
                    <a:t>Introduction to </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1" i="0" u="none" strike="noStrike" kern="0" cap="none" spc="0" normalizeH="0" baseline="0" noProof="0">
                      <a:ln>
                        <a:noFill/>
                      </a:ln>
                      <a:solidFill>
                        <a:srgbClr val="FFFFFF"/>
                      </a:solidFill>
                      <a:effectLst/>
                      <a:uLnTx/>
                      <a:uFillTx/>
                      <a:latin typeface="Calibri"/>
                      <a:ea typeface="Calibri"/>
                      <a:cs typeface="Calibri"/>
                      <a:sym typeface="Calibri"/>
                    </a:rPr>
                    <a:t>Robotic Process Automation </a:t>
                  </a:r>
                  <a:endParaRPr kumimoji="0" sz="2000" b="1" i="0" u="none" strike="noStrike" kern="0" cap="none" spc="0" normalizeH="0" baseline="0" noProof="0">
                    <a:ln>
                      <a:noFill/>
                    </a:ln>
                    <a:solidFill>
                      <a:srgbClr val="FFFFFF"/>
                    </a:solidFill>
                    <a:effectLst/>
                    <a:uLnTx/>
                    <a:uFillTx/>
                    <a:latin typeface="Calibri"/>
                    <a:ea typeface="Calibri"/>
                    <a:cs typeface="Calibri"/>
                    <a:sym typeface="Calibri"/>
                  </a:endParaRPr>
                </a:p>
              </p:txBody>
            </p:sp>
          </p:grpSp>
          <p:sp>
            <p:nvSpPr>
              <p:cNvPr id="97" name="Google Shape;97;p13"/>
              <p:cNvSpPr txBox="1"/>
              <p:nvPr/>
            </p:nvSpPr>
            <p:spPr>
              <a:xfrm>
                <a:off x="177782" y="2357003"/>
                <a:ext cx="4188300" cy="17547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5400" b="1" dirty="0">
                    <a:solidFill>
                      <a:srgbClr val="FFFFFF"/>
                    </a:solidFill>
                    <a:latin typeface="Calibri"/>
                    <a:ea typeface="Calibri"/>
                    <a:cs typeface="Calibri"/>
                    <a:sym typeface="Calibri"/>
                  </a:rPr>
                  <a:t>Automated</a:t>
                </a:r>
                <a:r>
                  <a:rPr kumimoji="0" lang="en-US" sz="5400" b="1" i="0" u="none" strike="noStrike" kern="0" cap="none" spc="0" normalizeH="0" baseline="0" noProof="0" dirty="0">
                    <a:ln>
                      <a:noFill/>
                    </a:ln>
                    <a:solidFill>
                      <a:srgbClr val="FFFFFF"/>
                    </a:solidFill>
                    <a:effectLst/>
                    <a:uLnTx/>
                    <a:uFillTx/>
                    <a:latin typeface="Calibri"/>
                    <a:ea typeface="Calibri"/>
                    <a:cs typeface="Calibri"/>
                    <a:sym typeface="Calibri"/>
                  </a:rPr>
                  <a:t> </a:t>
                </a:r>
                <a:endParaRPr kumimoji="0" sz="5400" b="1" i="0" u="none" strike="noStrike" kern="0" cap="none" spc="0" normalizeH="0" baseline="0" noProof="0" dirty="0">
                  <a:ln>
                    <a:noFill/>
                  </a:ln>
                  <a:solidFill>
                    <a:srgbClr val="FFFFFF"/>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5400" b="1" dirty="0">
                    <a:solidFill>
                      <a:srgbClr val="FFFFFF"/>
                    </a:solidFill>
                    <a:latin typeface="Calibri"/>
                    <a:ea typeface="Calibri"/>
                    <a:cs typeface="Calibri"/>
                    <a:sym typeface="Calibri"/>
                  </a:rPr>
                  <a:t>Trading Bot</a:t>
                </a:r>
                <a:endParaRPr kumimoji="0" sz="5400" b="1" i="0" u="none" strike="noStrike" kern="0" cap="none" spc="0" normalizeH="0" baseline="0" noProof="0" dirty="0">
                  <a:ln>
                    <a:noFill/>
                  </a:ln>
                  <a:solidFill>
                    <a:srgbClr val="FFFFFF"/>
                  </a:solidFill>
                  <a:effectLst/>
                  <a:uLnTx/>
                  <a:uFillTx/>
                  <a:latin typeface="Calibri"/>
                  <a:ea typeface="Calibri"/>
                  <a:cs typeface="Calibri"/>
                  <a:sym typeface="Calibri"/>
                </a:endParaRPr>
              </a:p>
            </p:txBody>
          </p:sp>
          <p:sp>
            <p:nvSpPr>
              <p:cNvPr id="98" name="Google Shape;98;p13"/>
              <p:cNvSpPr/>
              <p:nvPr/>
            </p:nvSpPr>
            <p:spPr>
              <a:xfrm>
                <a:off x="4652237" y="1529372"/>
                <a:ext cx="1672363" cy="3086099"/>
              </a:xfrm>
              <a:custGeom>
                <a:avLst/>
                <a:gdLst/>
                <a:ahLst/>
                <a:cxnLst/>
                <a:rect l="l" t="t" r="r" b="b"/>
                <a:pathLst>
                  <a:path w="1672363" h="3086099" extrusionOk="0">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srgbClr val="000000">
                    <a:alpha val="29803"/>
                  </a:srgbClr>
                </a:outerShdw>
              </a:effectLst>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Calibri"/>
                  <a:ea typeface="Calibri"/>
                  <a:cs typeface="Calibri"/>
                  <a:sym typeface="Calibri"/>
                </a:endParaRPr>
              </a:p>
            </p:txBody>
          </p:sp>
        </p:grpSp>
      </p:grpSp>
      <p:pic>
        <p:nvPicPr>
          <p:cNvPr id="99" name="Google Shape;99;p13"/>
          <p:cNvPicPr preferRelativeResize="0"/>
          <p:nvPr/>
        </p:nvPicPr>
        <p:blipFill rotWithShape="1">
          <a:blip r:embed="rId4">
            <a:alphaModFix/>
          </a:blip>
          <a:srcRect/>
          <a:stretch/>
        </p:blipFill>
        <p:spPr>
          <a:xfrm>
            <a:off x="7128284" y="4441459"/>
            <a:ext cx="1813542" cy="154151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Abstract</a:t>
            </a:r>
            <a:endParaRPr>
              <a:latin typeface="Calibri"/>
              <a:ea typeface="Calibri"/>
              <a:cs typeface="Calibri"/>
              <a:sym typeface="Calibri"/>
            </a:endParaRPr>
          </a:p>
        </p:txBody>
      </p:sp>
      <p:sp>
        <p:nvSpPr>
          <p:cNvPr id="106" name="Google Shape;106;p1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just" rtl="0">
              <a:lnSpc>
                <a:spcPct val="114000"/>
              </a:lnSpc>
              <a:spcBef>
                <a:spcPts val="0"/>
              </a:spcBef>
              <a:spcAft>
                <a:spcPts val="0"/>
              </a:spcAft>
              <a:buClr>
                <a:schemeClr val="dk1"/>
              </a:buClr>
              <a:buSzPts val="2400"/>
              <a:buNone/>
            </a:pPr>
            <a:r>
              <a:rPr lang="en-US" sz="2000" b="0" i="0" dirty="0">
                <a:solidFill>
                  <a:schemeClr val="tx1"/>
                </a:solidFill>
                <a:effectLst/>
                <a:latin typeface="Times New Roman" panose="02020603050405020304" pitchFamily="18" charset="0"/>
                <a:cs typeface="Times New Roman" panose="02020603050405020304" pitchFamily="18" charset="0"/>
              </a:rPr>
              <a:t>This PowerPoint presentation will provide a comprehensive overview of our project, focusing on the development of an innovative automated trading bot using UiPath for the Kite website. We will delve into the key objectives, including the seamless automation of trading processes, efficient data extraction, and the implementation of intelligent trading strategies. The presentation will highlight the challenges addressed, such as dynamic element handling and robust error management, showcasing how UiPath's capabilities were leveraged for a resilient and adaptable solution. Key components, including risk management, data validation, and security measures, will be discussed, emphasizing the commitment to reliability and compliance. The presentation will conclude with future considerations, outlining the path for ongoing refinement, integration of advanced technologies, and staying abreast of market trends. This abstract aims to provide a concise preview of the project's scope, methodologies, and outcomes for a compelling and insightful presentation.</a:t>
            </a:r>
            <a:endParaRPr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Need for the Proposed System</a:t>
            </a:r>
            <a:endParaRPr>
              <a:latin typeface="Calibri"/>
              <a:ea typeface="Calibri"/>
              <a:cs typeface="Calibri"/>
              <a:sym typeface="Calibri"/>
            </a:endParaRPr>
          </a:p>
        </p:txBody>
      </p:sp>
      <p:sp>
        <p:nvSpPr>
          <p:cNvPr id="113" name="Google Shape;113;p1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Autofit/>
          </a:bodyPr>
          <a:lstStyle/>
          <a:p>
            <a:pPr marL="0" lvl="0" indent="0" algn="just" rtl="0">
              <a:lnSpc>
                <a:spcPct val="114000"/>
              </a:lnSpc>
              <a:spcBef>
                <a:spcPts val="0"/>
              </a:spcBef>
              <a:spcAft>
                <a:spcPts val="0"/>
              </a:spcAft>
              <a:buClr>
                <a:schemeClr val="dk1"/>
              </a:buClr>
              <a:buSzPts val="2400"/>
              <a:buNone/>
            </a:pPr>
            <a:r>
              <a:rPr lang="en-US" sz="2000" b="0" i="0" dirty="0">
                <a:solidFill>
                  <a:schemeClr val="tx1"/>
                </a:solidFill>
                <a:effectLst/>
                <a:latin typeface="Times New Roman" panose="02020603050405020304" pitchFamily="18" charset="0"/>
                <a:cs typeface="Times New Roman" panose="02020603050405020304" pitchFamily="18" charset="0"/>
              </a:rPr>
              <a:t>In the rapidly evolving landscape of financial markets, the need for an advanced automated trading system has become increasingly evident. The existing manual trading processes on platforms like Kite demand constant attention, quick decision-making, and efficient execution. However, manual trading is prone to human errors, slower response times, and challenges in monitoring multiple instruments simultaneously. The proposed system addresses these shortcomings by introducing a UiPath-based automated trading bot for the Kite website. This solution aims to revolutionize traditional trading methods, providing traders with the agility and precision required to navigate dynamic markets. With the capability to automate repetitive tasks, extract real-time data, and execute predefined trading strategies seamlessly, the proposed system not only enhances operational efficiency but also mitigates risks through intelligent decision-making. This slide will delve into the key reasons why a proposed automated trading system is not just a technological upgrade but a strategic imperative in the contemporary financial landscape.</a:t>
            </a:r>
            <a:endParaRPr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Advantages of the Proposed System</a:t>
            </a:r>
            <a:endParaRPr dirty="0">
              <a:latin typeface="Calibri"/>
              <a:ea typeface="Calibri"/>
              <a:cs typeface="Calibri"/>
              <a:sym typeface="Calibri"/>
            </a:endParaRPr>
          </a:p>
        </p:txBody>
      </p:sp>
      <p:sp>
        <p:nvSpPr>
          <p:cNvPr id="120" name="Google Shape;120;p1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algn="l">
              <a:buFont typeface="+mj-lt"/>
              <a:buAutoNum type="arabicPeriod"/>
            </a:pPr>
            <a:r>
              <a:rPr lang="en-US" sz="2000" b="1" i="0" dirty="0">
                <a:effectLst/>
                <a:latin typeface="Times New Roman" panose="02020603050405020304" pitchFamily="18" charset="0"/>
                <a:cs typeface="Times New Roman" panose="02020603050405020304" pitchFamily="18" charset="0"/>
              </a:rPr>
              <a:t>Real-Time Decision-Making:</a:t>
            </a:r>
            <a:endParaRPr lang="en-US" sz="20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With the capability to extract and analyze real-time market data swiftly, the proposed system enables traders to make informed decisions promptly.</a:t>
            </a:r>
          </a:p>
          <a:p>
            <a:pPr algn="l">
              <a:buFont typeface="+mj-lt"/>
              <a:buAutoNum type="arabicPeriod"/>
            </a:pPr>
            <a:r>
              <a:rPr lang="en-US" sz="2000" b="1" i="0" dirty="0">
                <a:effectLst/>
                <a:latin typeface="Times New Roman" panose="02020603050405020304" pitchFamily="18" charset="0"/>
                <a:cs typeface="Times New Roman" panose="02020603050405020304" pitchFamily="18" charset="0"/>
              </a:rPr>
              <a:t>Mitigation of Human Errors:</a:t>
            </a:r>
            <a:endParaRPr lang="en-US" sz="20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Automation minimizes the risk of human errors associated with manual trading, ensuring greater accuracy in the execution of trading strategies.</a:t>
            </a:r>
          </a:p>
          <a:p>
            <a:pPr algn="l">
              <a:buFont typeface="+mj-lt"/>
              <a:buAutoNum type="arabicPeriod"/>
            </a:pPr>
            <a:r>
              <a:rPr lang="en-US" sz="2000" b="1" i="0" dirty="0">
                <a:effectLst/>
                <a:latin typeface="Times New Roman" panose="02020603050405020304" pitchFamily="18" charset="0"/>
                <a:cs typeface="Times New Roman" panose="02020603050405020304" pitchFamily="18" charset="0"/>
              </a:rPr>
              <a:t>24/7 Market Monitoring:</a:t>
            </a:r>
            <a:endParaRPr lang="en-US" sz="20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automated system operates continuously, providing traders with the ability to monitor market conditions 24/7 and execute trades at optimal times.</a:t>
            </a:r>
          </a:p>
          <a:p>
            <a:pPr algn="l">
              <a:buFont typeface="+mj-lt"/>
              <a:buAutoNum type="arabicPeriod"/>
            </a:pPr>
            <a:r>
              <a:rPr lang="en-US" sz="2000" b="1" i="0" dirty="0">
                <a:effectLst/>
                <a:latin typeface="Times New Roman" panose="02020603050405020304" pitchFamily="18" charset="0"/>
                <a:cs typeface="Times New Roman" panose="02020603050405020304" pitchFamily="18" charset="0"/>
              </a:rPr>
              <a:t>Adaptability to Dynamic Markets:</a:t>
            </a:r>
            <a:endParaRPr lang="en-US" sz="20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The system's adaptability to dynamic market conditions ensures that trading strategies remain effective and responsive to evolving trends.</a:t>
            </a:r>
          </a:p>
          <a:p>
            <a:pPr marL="0" lvl="0" indent="0" algn="l" rtl="0">
              <a:lnSpc>
                <a:spcPct val="114000"/>
              </a:lnSpc>
              <a:spcBef>
                <a:spcPts val="0"/>
              </a:spcBef>
              <a:spcAft>
                <a:spcPts val="0"/>
              </a:spcAft>
              <a:buClr>
                <a:schemeClr val="dk1"/>
              </a:buClr>
              <a:buSzPts val="240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Literature Survey</a:t>
            </a:r>
            <a:endParaRPr>
              <a:latin typeface="Calibri"/>
              <a:ea typeface="Calibri"/>
              <a:cs typeface="Calibri"/>
              <a:sym typeface="Calibri"/>
            </a:endParaRPr>
          </a:p>
        </p:txBody>
      </p:sp>
      <p:sp>
        <p:nvSpPr>
          <p:cNvPr id="127" name="Google Shape;127;p1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77500" lnSpcReduction="20000"/>
          </a:bodyPr>
          <a:lstStyle/>
          <a:p>
            <a:pPr marL="342900" lvl="0" indent="-190500" algn="l" rtl="0">
              <a:lnSpc>
                <a:spcPct val="114000"/>
              </a:lnSpc>
              <a:spcBef>
                <a:spcPts val="480"/>
              </a:spcBef>
              <a:spcAft>
                <a:spcPts val="0"/>
              </a:spcAft>
              <a:buClr>
                <a:schemeClr val="dk1"/>
              </a:buClr>
              <a:buSzPts val="2400"/>
              <a:buFont typeface="Noto Sans Symbols"/>
              <a:buNone/>
            </a:pPr>
            <a:endParaRPr sz="1400" dirty="0"/>
          </a:p>
          <a:p>
            <a:pPr algn="l">
              <a:buFont typeface="+mj-lt"/>
              <a:buAutoNum type="arabicPeriod"/>
            </a:pPr>
            <a:r>
              <a:rPr lang="en-US" sz="2100" b="1" i="0" dirty="0">
                <a:effectLst/>
                <a:latin typeface="Times New Roman" panose="02020603050405020304" pitchFamily="18" charset="0"/>
                <a:cs typeface="Times New Roman" panose="02020603050405020304" pitchFamily="18" charset="0"/>
              </a:rPr>
              <a:t>"Algorithmic Trading and Financial Markets" (2018) - Ernest P. Chan:</a:t>
            </a:r>
            <a:endParaRPr lang="en-US" sz="21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This seminal work provides insights into algorithmic trading strategies, risk management, and the impact of algorithmic trading on financial markets. Chan's expertise contributes valuable perspectives to the development of algorithmic trading systems.</a:t>
            </a:r>
          </a:p>
          <a:p>
            <a:pPr algn="l">
              <a:buFont typeface="+mj-lt"/>
              <a:buAutoNum type="arabicPeriod"/>
            </a:pPr>
            <a:r>
              <a:rPr lang="en-US" sz="2100" b="1" i="0" dirty="0">
                <a:effectLst/>
                <a:latin typeface="Times New Roman" panose="02020603050405020304" pitchFamily="18" charset="0"/>
                <a:cs typeface="Times New Roman" panose="02020603050405020304" pitchFamily="18" charset="0"/>
              </a:rPr>
              <a:t>"UiPath Automation Platform for Financial Services" (2021) - UiPath:</a:t>
            </a:r>
            <a:endParaRPr lang="en-US" sz="21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This documentation from UiPath offers a comprehensive overview of the UiPath platform's capabilities in the context of financial services. It explores how UiPath can be leveraged for automating processes in the financial sector, including trading activities.</a:t>
            </a:r>
          </a:p>
          <a:p>
            <a:pPr algn="l">
              <a:buFont typeface="+mj-lt"/>
              <a:buAutoNum type="arabicPeriod"/>
            </a:pPr>
            <a:r>
              <a:rPr lang="en-US" sz="2100" b="1" i="0" dirty="0">
                <a:effectLst/>
                <a:latin typeface="Times New Roman" panose="02020603050405020304" pitchFamily="18" charset="0"/>
                <a:cs typeface="Times New Roman" panose="02020603050405020304" pitchFamily="18" charset="0"/>
              </a:rPr>
              <a:t>"Web Scraping with UiPath" (2019) - Alok Ranjan:</a:t>
            </a:r>
            <a:endParaRPr lang="en-US" sz="21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Alok Ranjan's work provides practical insights into web scraping using UiPath, which is a crucial aspect of extracting real-time data from financial websites. The techniques outlined contribute to the foundational understanding of web automation in financial applications.</a:t>
            </a:r>
          </a:p>
          <a:p>
            <a:pPr algn="l">
              <a:buFont typeface="+mj-lt"/>
              <a:buAutoNum type="arabicPeriod"/>
            </a:pPr>
            <a:r>
              <a:rPr lang="en-US" sz="2100" b="1" i="0" dirty="0">
                <a:effectLst/>
                <a:latin typeface="Times New Roman" panose="02020603050405020304" pitchFamily="18" charset="0"/>
                <a:cs typeface="Times New Roman" panose="02020603050405020304" pitchFamily="18" charset="0"/>
              </a:rPr>
              <a:t>"Financial Data Security in the Era of Cyber Threats" (2017) - D. Narayanan:</a:t>
            </a:r>
            <a:endParaRPr lang="en-US" sz="2100"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sz="2100" b="0" i="0" dirty="0">
                <a:effectLst/>
                <a:latin typeface="Times New Roman" panose="02020603050405020304" pitchFamily="18" charset="0"/>
                <a:cs typeface="Times New Roman" panose="02020603050405020304" pitchFamily="18" charset="0"/>
              </a:rPr>
              <a:t>Narayanan's research delves into the critical importance of financial data security, particularly in the context of automated trading systems. The paper addresses cybersecurity threats and emphasizes the need for robust security measures in financial automation.</a:t>
            </a:r>
          </a:p>
          <a:p>
            <a:pPr marL="342900" lvl="0" indent="-190500" algn="l" rtl="0">
              <a:lnSpc>
                <a:spcPct val="114000"/>
              </a:lnSpc>
              <a:spcBef>
                <a:spcPts val="480"/>
              </a:spcBef>
              <a:spcAft>
                <a:spcPts val="0"/>
              </a:spcAft>
              <a:buClr>
                <a:schemeClr val="dk1"/>
              </a:buClr>
              <a:buSzPts val="2400"/>
              <a:buFont typeface="Noto Sans Symbols"/>
              <a:buNone/>
            </a:pPr>
            <a:endParaRPr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Main Objective</a:t>
            </a:r>
            <a:endParaRPr>
              <a:latin typeface="Calibri"/>
              <a:ea typeface="Calibri"/>
              <a:cs typeface="Calibri"/>
              <a:sym typeface="Calibri"/>
            </a:endParaRPr>
          </a:p>
        </p:txBody>
      </p:sp>
      <p:sp>
        <p:nvSpPr>
          <p:cNvPr id="134" name="Google Shape;134;p18"/>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20000"/>
          </a:bodyPr>
          <a:lstStyle/>
          <a:p>
            <a:pPr algn="l">
              <a:buFont typeface="+mj-lt"/>
              <a:buAutoNum type="arabicPeriod"/>
            </a:pPr>
            <a:r>
              <a:rPr lang="en-US" sz="2100" b="1" i="0" dirty="0">
                <a:effectLst/>
                <a:latin typeface="Söhne"/>
              </a:rPr>
              <a:t>Automation of Trading Processes:</a:t>
            </a:r>
            <a:endParaRPr lang="en-US" sz="2100" b="0" i="0" dirty="0">
              <a:effectLst/>
              <a:latin typeface="Söhne"/>
            </a:endParaRPr>
          </a:p>
          <a:p>
            <a:pPr marL="800100" lvl="1" indent="-342900" algn="l">
              <a:buFont typeface="Arial" panose="020B0604020202020204" pitchFamily="34" charset="0"/>
              <a:buChar char="•"/>
            </a:pPr>
            <a:r>
              <a:rPr lang="en-US" sz="2100" b="0" i="0" dirty="0">
                <a:effectLst/>
                <a:latin typeface="Söhne"/>
              </a:rPr>
              <a:t>Develop a robust automated trading bot using UiPath to streamline and automate key trading processes on the Kite website, reducing manual intervention and improving operational efficiency.</a:t>
            </a:r>
          </a:p>
          <a:p>
            <a:pPr algn="l">
              <a:buFont typeface="+mj-lt"/>
              <a:buAutoNum type="arabicPeriod"/>
            </a:pPr>
            <a:r>
              <a:rPr lang="en-US" sz="2100" b="1" i="0" dirty="0">
                <a:effectLst/>
                <a:latin typeface="Söhne"/>
              </a:rPr>
              <a:t>Efficient Data Extraction:</a:t>
            </a:r>
            <a:endParaRPr lang="en-US" sz="2100" b="0" i="0" dirty="0">
              <a:effectLst/>
              <a:latin typeface="Söhne"/>
            </a:endParaRPr>
          </a:p>
          <a:p>
            <a:pPr marL="800100" lvl="1" indent="-342900" algn="l">
              <a:buFont typeface="Arial" panose="020B0604020202020204" pitchFamily="34" charset="0"/>
              <a:buChar char="•"/>
            </a:pPr>
            <a:r>
              <a:rPr lang="en-US" sz="2100" b="0" i="0" dirty="0">
                <a:effectLst/>
                <a:latin typeface="Söhne"/>
              </a:rPr>
              <a:t>Implement efficient data extraction mechanisms to retrieve real-time market data and relevant information from the Kite platform, ensuring accuracy and timeliness in decision-making.</a:t>
            </a:r>
          </a:p>
          <a:p>
            <a:pPr algn="l">
              <a:buFont typeface="+mj-lt"/>
              <a:buAutoNum type="arabicPeriod"/>
            </a:pPr>
            <a:r>
              <a:rPr lang="en-US" sz="2100" b="1" i="0" dirty="0">
                <a:effectLst/>
                <a:latin typeface="Söhne"/>
              </a:rPr>
              <a:t>Implementation of Trading Strategies:</a:t>
            </a:r>
            <a:endParaRPr lang="en-US" sz="2100" b="0" i="0" dirty="0">
              <a:effectLst/>
              <a:latin typeface="Söhne"/>
            </a:endParaRPr>
          </a:p>
          <a:p>
            <a:pPr marL="800100" lvl="1" indent="-342900" algn="l">
              <a:buFont typeface="Arial" panose="020B0604020202020204" pitchFamily="34" charset="0"/>
              <a:buChar char="•"/>
            </a:pPr>
            <a:r>
              <a:rPr lang="en-US" sz="2100" b="0" i="0" dirty="0">
                <a:effectLst/>
                <a:latin typeface="Söhne"/>
              </a:rPr>
              <a:t>Integrate and execute predefined trading strategies seamlessly within the automated bot, providing traders with a systematic approach to decision-making and order placement.</a:t>
            </a:r>
          </a:p>
          <a:p>
            <a:pPr algn="l">
              <a:buFont typeface="+mj-lt"/>
              <a:buAutoNum type="arabicPeriod"/>
            </a:pPr>
            <a:r>
              <a:rPr lang="en-US" sz="2100" b="1" i="0" dirty="0">
                <a:effectLst/>
                <a:latin typeface="Söhne"/>
              </a:rPr>
              <a:t>Security and Compliance:</a:t>
            </a:r>
            <a:endParaRPr lang="en-US" sz="2100" b="0" i="0" dirty="0">
              <a:effectLst/>
              <a:latin typeface="Söhne"/>
            </a:endParaRPr>
          </a:p>
          <a:p>
            <a:pPr marL="800100" lvl="1" indent="-342900" algn="l">
              <a:buFont typeface="Arial" panose="020B0604020202020204" pitchFamily="34" charset="0"/>
              <a:buChar char="•"/>
            </a:pPr>
            <a:r>
              <a:rPr lang="en-US" sz="2100" b="0" i="0" dirty="0">
                <a:effectLst/>
                <a:latin typeface="Söhne"/>
              </a:rPr>
              <a:t>Prioritize the secure handling of sensitive information, including login credentials, and ensure compliance with financial regulations and ethical trading practices, safeguarding the integrity of the trading account and user data.</a:t>
            </a:r>
          </a:p>
          <a:p>
            <a:pPr marL="0" lvl="0" indent="0" algn="just" rtl="0">
              <a:lnSpc>
                <a:spcPct val="114000"/>
              </a:lnSpc>
              <a:spcBef>
                <a:spcPts val="0"/>
              </a:spcBef>
              <a:spcAft>
                <a:spcPts val="0"/>
              </a:spcAft>
              <a:buClr>
                <a:schemeClr val="dk1"/>
              </a:buClr>
              <a:buSzPts val="24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Architecture</a:t>
            </a:r>
            <a:endParaRPr>
              <a:latin typeface="Calibri"/>
              <a:ea typeface="Calibri"/>
              <a:cs typeface="Calibri"/>
              <a:sym typeface="Calibri"/>
            </a:endParaRPr>
          </a:p>
        </p:txBody>
      </p:sp>
      <p:sp>
        <p:nvSpPr>
          <p:cNvPr id="141" name="Google Shape;141;p1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 </a:t>
            </a:r>
            <a:endParaRPr dirty="0"/>
          </a:p>
        </p:txBody>
      </p:sp>
      <p:pic>
        <p:nvPicPr>
          <p:cNvPr id="4" name="Picture 3">
            <a:extLst>
              <a:ext uri="{FF2B5EF4-FFF2-40B4-BE49-F238E27FC236}">
                <a16:creationId xmlns:a16="http://schemas.microsoft.com/office/drawing/2014/main" id="{7A767EB9-94D3-8FC9-7EA3-547B3622D4E3}"/>
              </a:ext>
            </a:extLst>
          </p:cNvPr>
          <p:cNvPicPr>
            <a:picLocks noChangeAspect="1"/>
          </p:cNvPicPr>
          <p:nvPr/>
        </p:nvPicPr>
        <p:blipFill>
          <a:blip r:embed="rId3"/>
          <a:stretch>
            <a:fillRect/>
          </a:stretch>
        </p:blipFill>
        <p:spPr>
          <a:xfrm>
            <a:off x="1663103" y="1577187"/>
            <a:ext cx="6063270" cy="35471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0"/>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System Requirements</a:t>
            </a:r>
            <a:endParaRPr>
              <a:latin typeface="Calibri"/>
              <a:ea typeface="Calibri"/>
              <a:cs typeface="Calibri"/>
              <a:sym typeface="Calibri"/>
            </a:endParaRPr>
          </a:p>
        </p:txBody>
      </p:sp>
      <p:sp>
        <p:nvSpPr>
          <p:cNvPr id="148" name="Google Shape;148;p20"/>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342900" algn="l" rtl="0">
              <a:lnSpc>
                <a:spcPct val="114000"/>
              </a:lnSpc>
              <a:spcBef>
                <a:spcPts val="0"/>
              </a:spcBef>
              <a:spcAft>
                <a:spcPts val="0"/>
              </a:spcAft>
              <a:buClr>
                <a:schemeClr val="dk1"/>
              </a:buClr>
              <a:buSzPts val="2400"/>
              <a:buFont typeface="Noto Sans Symbols"/>
              <a:buChar char="▪"/>
            </a:pPr>
            <a:r>
              <a:rPr lang="en-US" dirty="0">
                <a:latin typeface="Times New Roman" panose="02020603050405020304" pitchFamily="18" charset="0"/>
                <a:cs typeface="Times New Roman" panose="02020603050405020304" pitchFamily="18" charset="0"/>
              </a:rPr>
              <a:t>Hardware</a:t>
            </a:r>
          </a:p>
          <a:p>
            <a:pPr marL="800100" lvl="1" indent="-342900">
              <a:spcBef>
                <a:spcPts val="0"/>
              </a:spcBef>
              <a:buSzPts val="2400"/>
              <a:buFont typeface="Noto Sans Symbols"/>
              <a:buChar char="▪"/>
            </a:pPr>
            <a:r>
              <a:rPr lang="en-US" dirty="0">
                <a:latin typeface="Times New Roman" panose="02020603050405020304" pitchFamily="18" charset="0"/>
                <a:cs typeface="Times New Roman" panose="02020603050405020304" pitchFamily="18" charset="0"/>
              </a:rPr>
              <a:t>Processor – Intel Core i3</a:t>
            </a:r>
          </a:p>
          <a:p>
            <a:pPr marL="800100" lvl="1" indent="-342900">
              <a:spcBef>
                <a:spcPts val="0"/>
              </a:spcBef>
              <a:buSzPts val="2400"/>
              <a:buFont typeface="Noto Sans Symbols"/>
              <a:buChar char="▪"/>
            </a:pPr>
            <a:r>
              <a:rPr lang="en-US" dirty="0">
                <a:latin typeface="Times New Roman" panose="02020603050405020304" pitchFamily="18" charset="0"/>
                <a:cs typeface="Times New Roman" panose="02020603050405020304" pitchFamily="18" charset="0"/>
              </a:rPr>
              <a:t>RAM – 4 GB RAM</a:t>
            </a:r>
          </a:p>
          <a:p>
            <a:pPr marL="800100" lvl="1" indent="-342900">
              <a:spcBef>
                <a:spcPts val="0"/>
              </a:spcBef>
              <a:buSzPts val="2400"/>
              <a:buFont typeface="Noto Sans Symbols"/>
              <a:buChar char="▪"/>
            </a:pPr>
            <a:r>
              <a:rPr lang="en-US" dirty="0">
                <a:latin typeface="Times New Roman" panose="02020603050405020304" pitchFamily="18" charset="0"/>
                <a:cs typeface="Times New Roman" panose="02020603050405020304" pitchFamily="18" charset="0"/>
              </a:rPr>
              <a:t>Hard Disk – 256 GB</a:t>
            </a:r>
          </a:p>
          <a:p>
            <a:pPr marL="514350" lvl="0" indent="-514350" algn="l" rtl="0">
              <a:lnSpc>
                <a:spcPct val="114000"/>
              </a:lnSpc>
              <a:spcBef>
                <a:spcPts val="0"/>
              </a:spcBef>
              <a:spcAft>
                <a:spcPts val="0"/>
              </a:spcAft>
              <a:buClr>
                <a:schemeClr val="dk1"/>
              </a:buClr>
              <a:buSzPts val="2400"/>
              <a:buFont typeface="+mj-lt"/>
              <a:buAutoNum type="romanLcPeriod"/>
            </a:pPr>
            <a:endParaRPr dirty="0">
              <a:latin typeface="Times New Roman" panose="02020603050405020304" pitchFamily="18" charset="0"/>
              <a:cs typeface="Times New Roman" panose="02020603050405020304" pitchFamily="18" charset="0"/>
            </a:endParaRPr>
          </a:p>
          <a:p>
            <a:pPr marL="342900" lvl="0" indent="-342900" algn="l" rtl="0">
              <a:lnSpc>
                <a:spcPct val="114000"/>
              </a:lnSpc>
              <a:spcBef>
                <a:spcPts val="480"/>
              </a:spcBef>
              <a:spcAft>
                <a:spcPts val="0"/>
              </a:spcAft>
              <a:buClr>
                <a:schemeClr val="dk1"/>
              </a:buClr>
              <a:buSzPts val="2400"/>
              <a:buFont typeface="Noto Sans Symbols"/>
              <a:buChar char="▪"/>
            </a:pPr>
            <a:r>
              <a:rPr lang="en-US" dirty="0">
                <a:latin typeface="Times New Roman" panose="02020603050405020304" pitchFamily="18" charset="0"/>
                <a:cs typeface="Times New Roman" panose="02020603050405020304" pitchFamily="18" charset="0"/>
              </a:rPr>
              <a:t>Software</a:t>
            </a:r>
          </a:p>
          <a:p>
            <a:pPr marL="800100" lvl="1" indent="-342900">
              <a:spcBef>
                <a:spcPts val="480"/>
              </a:spcBef>
              <a:buSzPts val="2400"/>
              <a:buFont typeface="Noto Sans Symbols"/>
              <a:buChar char="▪"/>
            </a:pPr>
            <a:r>
              <a:rPr lang="en-US" dirty="0">
                <a:latin typeface="Times New Roman" panose="02020603050405020304" pitchFamily="18" charset="0"/>
                <a:cs typeface="Times New Roman" panose="02020603050405020304" pitchFamily="18" charset="0"/>
              </a:rPr>
              <a:t>UiPath Studio</a:t>
            </a:r>
          </a:p>
          <a:p>
            <a:pPr marL="800100" lvl="1" indent="-342900">
              <a:spcBef>
                <a:spcPts val="480"/>
              </a:spcBef>
              <a:buSzPts val="2400"/>
              <a:buFont typeface="Noto Sans Symbols"/>
              <a:buChar char="▪"/>
            </a:pPr>
            <a:r>
              <a:rPr lang="en-US">
                <a:latin typeface="Times New Roman" panose="02020603050405020304" pitchFamily="18" charset="0"/>
                <a:cs typeface="Times New Roman" panose="02020603050405020304" pitchFamily="18" charset="0"/>
              </a:rPr>
              <a:t>Chrome</a:t>
            </a:r>
            <a:endParaRPr lang="en-US" dirty="0">
              <a:latin typeface="Times New Roman" panose="02020603050405020304" pitchFamily="18" charset="0"/>
              <a:cs typeface="Times New Roman" panose="02020603050405020304" pitchFamily="18" charset="0"/>
            </a:endParaRPr>
          </a:p>
          <a:p>
            <a:pPr marL="342900" lvl="0" indent="-342900" algn="l" rtl="0">
              <a:lnSpc>
                <a:spcPct val="114000"/>
              </a:lnSpc>
              <a:spcBef>
                <a:spcPts val="480"/>
              </a:spcBef>
              <a:spcAft>
                <a:spcPts val="0"/>
              </a:spcAft>
              <a:buClr>
                <a:schemeClr val="dk1"/>
              </a:buClr>
              <a:buSzPts val="2400"/>
              <a:buFont typeface="Noto Sans Symbols"/>
              <a:buChar char="▪"/>
            </a:pP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1"/>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Functional Description</a:t>
            </a:r>
            <a:endParaRPr>
              <a:latin typeface="Calibri"/>
              <a:ea typeface="Calibri"/>
              <a:cs typeface="Calibri"/>
              <a:sym typeface="Calibri"/>
            </a:endParaRPr>
          </a:p>
        </p:txBody>
      </p:sp>
      <p:sp>
        <p:nvSpPr>
          <p:cNvPr id="155" name="Google Shape;155;p21"/>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Autofit/>
          </a:bodyPr>
          <a:lstStyle/>
          <a:p>
            <a:pPr marL="342900" lvl="0" indent="-190500" algn="just" rtl="0">
              <a:lnSpc>
                <a:spcPct val="114000"/>
              </a:lnSpc>
              <a:spcBef>
                <a:spcPts val="480"/>
              </a:spcBef>
              <a:spcAft>
                <a:spcPts val="0"/>
              </a:spcAft>
              <a:buClr>
                <a:schemeClr val="dk1"/>
              </a:buClr>
              <a:buSzPts val="2400"/>
              <a:buFont typeface="Noto Sans Symbols"/>
              <a:buNone/>
            </a:pPr>
            <a:r>
              <a:rPr lang="en-US" sz="1600" dirty="0">
                <a:latin typeface="Times New Roman" panose="02020603050405020304" pitchFamily="18" charset="0"/>
                <a:cs typeface="Times New Roman" panose="02020603050405020304" pitchFamily="18" charset="0"/>
              </a:rPr>
              <a:t>The functional description of our automated trading bot elucidates its core operations, seamlessly blending UiPath's automation prowess with strategic decision-making in the dynamic realm of financial markets. Initiated by secure user authentication, the bot navigates the Kite website with precision, employing the "Type Into" and "Click" activities. The essence of the system lies in its data extraction module, leveraging UiPath's "Data Scraping" and "Get Text" activities to extract real-time market data, empowering the bot with critical insights. Order placement is executed flawlessly through the "Type Into" and "Click" activities, ensuring the seamless execution of predefined trading strategies. The bot diligently monitors positions and order history, providing real-time updates for informed decision-making. Adaptive to dynamic changes, the system incorporates dynamic element handling, fortified by robust error-handling mechanisms and comprehensive logging for effective monitoring. Security measures, including encrypted handling of sensitive data, safeguard the user's information. Prior to live deployment, the bot undergoes simulated testing, ensuring its resilience and refining its behavior under various market conditions. This functional description unveils a meticulously crafted system that not only automates trading processes but does so with precision, adaptability, and a commitment to user security.</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2"/>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Functional Description</a:t>
            </a:r>
            <a:endParaRPr dirty="0">
              <a:latin typeface="Calibri"/>
              <a:ea typeface="Calibri"/>
              <a:cs typeface="Calibri"/>
              <a:sym typeface="Calibri"/>
            </a:endParaRPr>
          </a:p>
        </p:txBody>
      </p:sp>
      <p:sp>
        <p:nvSpPr>
          <p:cNvPr id="162" name="Google Shape;162;p22"/>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 </a:t>
            </a:r>
            <a:endParaRPr dirty="0"/>
          </a:p>
        </p:txBody>
      </p:sp>
      <p:pic>
        <p:nvPicPr>
          <p:cNvPr id="4" name="Picture 3">
            <a:extLst>
              <a:ext uri="{FF2B5EF4-FFF2-40B4-BE49-F238E27FC236}">
                <a16:creationId xmlns:a16="http://schemas.microsoft.com/office/drawing/2014/main" id="{16AC2BC4-E8A9-66F1-3D7D-EBC40E97A00C}"/>
              </a:ext>
            </a:extLst>
          </p:cNvPr>
          <p:cNvPicPr>
            <a:picLocks noChangeAspect="1"/>
          </p:cNvPicPr>
          <p:nvPr/>
        </p:nvPicPr>
        <p:blipFill>
          <a:blip r:embed="rId3"/>
          <a:stretch>
            <a:fillRect/>
          </a:stretch>
        </p:blipFill>
        <p:spPr>
          <a:xfrm>
            <a:off x="908263" y="1129192"/>
            <a:ext cx="7517718" cy="50813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3"/>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Process Design</a:t>
            </a:r>
            <a:endParaRPr>
              <a:latin typeface="Calibri"/>
              <a:ea typeface="Calibri"/>
              <a:cs typeface="Calibri"/>
              <a:sym typeface="Calibri"/>
            </a:endParaRPr>
          </a:p>
        </p:txBody>
      </p:sp>
      <p:sp>
        <p:nvSpPr>
          <p:cNvPr id="169" name="Google Shape;169;p23"/>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0" lvl="0" indent="0" algn="l" rtl="0">
              <a:lnSpc>
                <a:spcPct val="114000"/>
              </a:lnSpc>
              <a:spcBef>
                <a:spcPts val="0"/>
              </a:spcBef>
              <a:spcAft>
                <a:spcPts val="0"/>
              </a:spcAft>
              <a:buClr>
                <a:schemeClr val="dk1"/>
              </a:buClr>
              <a:buSzPts val="2400"/>
              <a:buNone/>
            </a:pPr>
            <a:r>
              <a:rPr lang="en-IN" dirty="0"/>
              <a:t> </a:t>
            </a:r>
            <a:endParaRPr dirty="0"/>
          </a:p>
        </p:txBody>
      </p:sp>
      <p:pic>
        <p:nvPicPr>
          <p:cNvPr id="4" name="Picture 3">
            <a:extLst>
              <a:ext uri="{FF2B5EF4-FFF2-40B4-BE49-F238E27FC236}">
                <a16:creationId xmlns:a16="http://schemas.microsoft.com/office/drawing/2014/main" id="{DBAF95B0-BAA9-2263-194A-C9EB57D0AF95}"/>
              </a:ext>
            </a:extLst>
          </p:cNvPr>
          <p:cNvPicPr>
            <a:picLocks noChangeAspect="1"/>
          </p:cNvPicPr>
          <p:nvPr/>
        </p:nvPicPr>
        <p:blipFill>
          <a:blip r:embed="rId3"/>
          <a:stretch>
            <a:fillRect/>
          </a:stretch>
        </p:blipFill>
        <p:spPr>
          <a:xfrm>
            <a:off x="895989" y="1350120"/>
            <a:ext cx="7192462" cy="45172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Implementation Module 1</a:t>
            </a:r>
            <a:endParaRPr dirty="0">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14000"/>
              </a:lnSpc>
              <a:spcBef>
                <a:spcPts val="480"/>
              </a:spcBef>
              <a:spcAft>
                <a:spcPts val="0"/>
              </a:spcAft>
              <a:buClr>
                <a:schemeClr val="dk1"/>
              </a:buClr>
              <a:buSzPts val="2400"/>
              <a:buFont typeface="Noto Sans Symbols"/>
              <a:buNone/>
            </a:pPr>
            <a:r>
              <a:rPr lang="en-US" sz="1800" b="0" i="0" dirty="0">
                <a:solidFill>
                  <a:schemeClr val="tx1"/>
                </a:solidFill>
                <a:effectLst/>
                <a:latin typeface="Times New Roman" panose="02020603050405020304" pitchFamily="18" charset="0"/>
                <a:cs typeface="Times New Roman" panose="02020603050405020304" pitchFamily="18" charset="0"/>
              </a:rPr>
              <a:t>The Navigation Module is pivotal for seamless interaction with the Kite website. Leveraging UiPath's "Click" activity, the bot navigates through different sections, such as the trading dashboard and market data pages. This module sets the stage for subsequent actions, ensuring the bot can efficiently move between critical areas of the platform.</a:t>
            </a:r>
            <a:endParaRPr sz="18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5D08199-21D6-CE71-F44D-94E2EA70B398}"/>
              </a:ext>
            </a:extLst>
          </p:cNvPr>
          <p:cNvPicPr>
            <a:picLocks noChangeAspect="1"/>
          </p:cNvPicPr>
          <p:nvPr/>
        </p:nvPicPr>
        <p:blipFill>
          <a:blip r:embed="rId3"/>
          <a:stretch>
            <a:fillRect/>
          </a:stretch>
        </p:blipFill>
        <p:spPr>
          <a:xfrm>
            <a:off x="2141783" y="2970266"/>
            <a:ext cx="4479946" cy="30500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4"/>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dirty="0"/>
              <a:t>Implementation Module 2</a:t>
            </a:r>
            <a:endParaRPr dirty="0">
              <a:latin typeface="Calibri"/>
              <a:ea typeface="Calibri"/>
              <a:cs typeface="Calibri"/>
              <a:sym typeface="Calibri"/>
            </a:endParaRPr>
          </a:p>
        </p:txBody>
      </p:sp>
      <p:sp>
        <p:nvSpPr>
          <p:cNvPr id="176" name="Google Shape;176;p24"/>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14000"/>
              </a:lnSpc>
              <a:spcBef>
                <a:spcPts val="480"/>
              </a:spcBef>
              <a:spcAft>
                <a:spcPts val="0"/>
              </a:spcAft>
              <a:buClr>
                <a:schemeClr val="dk1"/>
              </a:buClr>
              <a:buSzPts val="2400"/>
              <a:buFont typeface="Noto Sans Symbols"/>
              <a:buNone/>
            </a:pPr>
            <a:r>
              <a:rPr lang="en-US" sz="1600" b="0" i="0" dirty="0">
                <a:solidFill>
                  <a:schemeClr val="tx1"/>
                </a:solidFill>
                <a:effectLst/>
                <a:latin typeface="Times New Roman" panose="02020603050405020304" pitchFamily="18" charset="0"/>
                <a:cs typeface="Times New Roman" panose="02020603050405020304" pitchFamily="18" charset="0"/>
              </a:rPr>
              <a:t>This module involves the systematic extraction of real-time market data from the Kite website, providing the bot with essential information for decision-making. Utilizing UiPath's "Data Scraping" and "Get Text" activities, the bot can capture and process data such as stock prices, account balances, and other relevant metrics. This extracted data becomes the foundation for analyzing market conditions and executing trading strategies.</a:t>
            </a:r>
            <a:endParaRPr sz="16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AE04C63-A463-19E6-5F5E-C067333F20F4}"/>
              </a:ext>
            </a:extLst>
          </p:cNvPr>
          <p:cNvPicPr>
            <a:picLocks noChangeAspect="1"/>
          </p:cNvPicPr>
          <p:nvPr/>
        </p:nvPicPr>
        <p:blipFill>
          <a:blip r:embed="rId3"/>
          <a:stretch>
            <a:fillRect/>
          </a:stretch>
        </p:blipFill>
        <p:spPr>
          <a:xfrm>
            <a:off x="1693788" y="2755473"/>
            <a:ext cx="5928258" cy="3197331"/>
          </a:xfrm>
          <a:prstGeom prst="rect">
            <a:avLst/>
          </a:prstGeom>
        </p:spPr>
      </p:pic>
    </p:spTree>
    <p:extLst>
      <p:ext uri="{BB962C8B-B14F-4D97-AF65-F5344CB8AC3E}">
        <p14:creationId xmlns:p14="http://schemas.microsoft.com/office/powerpoint/2010/main" val="3912840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5"/>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Testing</a:t>
            </a:r>
            <a:endParaRPr>
              <a:latin typeface="Calibri"/>
              <a:ea typeface="Calibri"/>
              <a:cs typeface="Calibri"/>
              <a:sym typeface="Calibri"/>
            </a:endParaRPr>
          </a:p>
        </p:txBody>
      </p:sp>
      <p:sp>
        <p:nvSpPr>
          <p:cNvPr id="183" name="Google Shape;183;p25"/>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a:bodyPr>
          <a:lstStyle/>
          <a:p>
            <a:pPr marL="342900" lvl="0" indent="-190500" algn="l" rtl="0">
              <a:lnSpc>
                <a:spcPct val="114000"/>
              </a:lnSpc>
              <a:spcBef>
                <a:spcPts val="480"/>
              </a:spcBef>
              <a:spcAft>
                <a:spcPts val="0"/>
              </a:spcAft>
              <a:buClr>
                <a:schemeClr val="dk1"/>
              </a:buClr>
              <a:buSzPts val="2400"/>
              <a:buFont typeface="Noto Sans Symbols"/>
              <a:buNone/>
            </a:pPr>
            <a:r>
              <a:rPr lang="en-US" sz="1400" b="0" i="0" dirty="0">
                <a:solidFill>
                  <a:schemeClr val="tx1"/>
                </a:solidFill>
                <a:effectLst/>
                <a:latin typeface="Times New Roman" panose="02020603050405020304" pitchFamily="18" charset="0"/>
                <a:cs typeface="Times New Roman" panose="02020603050405020304" pitchFamily="18" charset="0"/>
              </a:rPr>
              <a:t>Testing is a critical phase in the development of the automated trading bot. Simulated testing is conducted in a controlled environment to rigorously validate the functionality of the bot. This involves executing predefined test cases to ensure that the bot behaves as expected under diverse market conditions. Through systematic debugging and refinement, any identified issues or discrepancies are addressed, enhancing the bot's overall performance, reliability, and adherence to predefined trading strategies before live deployment.</a:t>
            </a:r>
            <a:endParaRPr lang="en-IN" sz="1400" dirty="0">
              <a:solidFill>
                <a:schemeClr val="tx1"/>
              </a:solidFill>
              <a:latin typeface="Times New Roman" panose="02020603050405020304" pitchFamily="18" charset="0"/>
              <a:cs typeface="Times New Roman" panose="02020603050405020304" pitchFamily="18" charset="0"/>
            </a:endParaRPr>
          </a:p>
          <a:p>
            <a:pPr marL="342900" lvl="0" indent="-190500" algn="l" rtl="0">
              <a:lnSpc>
                <a:spcPct val="114000"/>
              </a:lnSpc>
              <a:spcBef>
                <a:spcPts val="480"/>
              </a:spcBef>
              <a:spcAft>
                <a:spcPts val="0"/>
              </a:spcAft>
              <a:buClr>
                <a:schemeClr val="dk1"/>
              </a:buClr>
              <a:buSzPts val="2400"/>
              <a:buFont typeface="Noto Sans Symbols"/>
              <a:buNone/>
            </a:pPr>
            <a:endParaRPr dirty="0"/>
          </a:p>
        </p:txBody>
      </p:sp>
      <p:pic>
        <p:nvPicPr>
          <p:cNvPr id="5" name="Picture 4">
            <a:extLst>
              <a:ext uri="{FF2B5EF4-FFF2-40B4-BE49-F238E27FC236}">
                <a16:creationId xmlns:a16="http://schemas.microsoft.com/office/drawing/2014/main" id="{9FF5F7AC-7852-2BAE-C5F9-07A249797211}"/>
              </a:ext>
            </a:extLst>
          </p:cNvPr>
          <p:cNvPicPr>
            <a:picLocks noChangeAspect="1"/>
          </p:cNvPicPr>
          <p:nvPr/>
        </p:nvPicPr>
        <p:blipFill>
          <a:blip r:embed="rId3"/>
          <a:stretch>
            <a:fillRect/>
          </a:stretch>
        </p:blipFill>
        <p:spPr>
          <a:xfrm>
            <a:off x="190500" y="2432628"/>
            <a:ext cx="4111476" cy="3526971"/>
          </a:xfrm>
          <a:prstGeom prst="rect">
            <a:avLst/>
          </a:prstGeom>
        </p:spPr>
      </p:pic>
      <p:pic>
        <p:nvPicPr>
          <p:cNvPr id="7" name="Picture 6">
            <a:extLst>
              <a:ext uri="{FF2B5EF4-FFF2-40B4-BE49-F238E27FC236}">
                <a16:creationId xmlns:a16="http://schemas.microsoft.com/office/drawing/2014/main" id="{85244056-BCF6-9B5B-1F88-2D6A8AF22ADE}"/>
              </a:ext>
            </a:extLst>
          </p:cNvPr>
          <p:cNvPicPr>
            <a:picLocks noChangeAspect="1"/>
          </p:cNvPicPr>
          <p:nvPr/>
        </p:nvPicPr>
        <p:blipFill>
          <a:blip r:embed="rId4"/>
          <a:stretch>
            <a:fillRect/>
          </a:stretch>
        </p:blipFill>
        <p:spPr>
          <a:xfrm>
            <a:off x="4842026" y="2451980"/>
            <a:ext cx="3682146" cy="35076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Conclusions</a:t>
            </a:r>
            <a:endParaRPr>
              <a:latin typeface="Calibri"/>
              <a:ea typeface="Calibri"/>
              <a:cs typeface="Calibri"/>
              <a:sym typeface="Calibri"/>
            </a:endParaRPr>
          </a:p>
        </p:txBody>
      </p:sp>
      <p:sp>
        <p:nvSpPr>
          <p:cNvPr id="190" name="Google Shape;190;p26"/>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10000"/>
          </a:bodyPr>
          <a:lstStyle/>
          <a:p>
            <a:pPr marL="342900" lvl="0" indent="-190500" algn="just" rtl="0">
              <a:lnSpc>
                <a:spcPct val="114000"/>
              </a:lnSpc>
              <a:spcBef>
                <a:spcPts val="480"/>
              </a:spcBef>
              <a:spcAft>
                <a:spcPts val="0"/>
              </a:spcAft>
              <a:buClr>
                <a:schemeClr val="dk1"/>
              </a:buClr>
              <a:buSzPts val="2400"/>
              <a:buFont typeface="Noto Sans Symbols"/>
              <a:buNone/>
            </a:pPr>
            <a:r>
              <a:rPr lang="en-US" b="0" i="0" dirty="0">
                <a:solidFill>
                  <a:schemeClr val="tx1"/>
                </a:solidFill>
                <a:effectLst/>
                <a:latin typeface="Times New Roman" panose="02020603050405020304" pitchFamily="18" charset="0"/>
                <a:cs typeface="Times New Roman" panose="02020603050405020304" pitchFamily="18" charset="0"/>
              </a:rPr>
              <a:t>In essence, the development of our automated trading bot using UiPath for the Kite website represents a pivotal advancement in modern finance. This project seamlessly integrates state-of-the-art automation technology with strategic decision-making, offering a solution that navigates the complexities of financial markets with precision. By addressing challenges through dynamic element handling and robust error management, the system demonstrates adaptability and resilience. Emphasizing security, compliance, and transparency, the bot prioritizes the safeguarding of user information. Simulated testing ensures reliability before deployment, underscoring our commitment to excellence. As we conclude this project, it not only stands as a testament to the transformative potential of technology in finance but also paves the way for a future where automated systems play a central role in reshaping the landscape of algorithmic trading</a:t>
            </a:r>
            <a:r>
              <a:rPr lang="en-US" b="0" i="0" dirty="0">
                <a:solidFill>
                  <a:srgbClr val="ECECF1"/>
                </a:solidFill>
                <a:effectLst/>
                <a:latin typeface="Söhne"/>
              </a:rPr>
              <a:t>.</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7"/>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Future Enhancement</a:t>
            </a:r>
            <a:endParaRPr>
              <a:latin typeface="Calibri"/>
              <a:ea typeface="Calibri"/>
              <a:cs typeface="Calibri"/>
              <a:sym typeface="Calibri"/>
            </a:endParaRPr>
          </a:p>
        </p:txBody>
      </p:sp>
      <p:sp>
        <p:nvSpPr>
          <p:cNvPr id="197" name="Google Shape;197;p27"/>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20000"/>
          </a:bodyPr>
          <a:lstStyle/>
          <a:p>
            <a:pPr algn="l">
              <a:buFont typeface="+mj-lt"/>
              <a:buAutoNum type="arabicPeriod"/>
            </a:pPr>
            <a:r>
              <a:rPr lang="en-US" b="1" i="0" dirty="0">
                <a:effectLst/>
                <a:latin typeface="Times New Roman" panose="02020603050405020304" pitchFamily="18" charset="0"/>
                <a:cs typeface="Times New Roman" panose="02020603050405020304" pitchFamily="18" charset="0"/>
              </a:rPr>
              <a:t>Machine Learning Integration:</a:t>
            </a:r>
            <a:endParaRPr lang="en-US"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Explore the integration of machine learning models to enhance the bot's decision-making capabilities and adaptability to changing market conditions.</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Advanced Data Analytics:</a:t>
            </a:r>
            <a:endParaRPr lang="en-US"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Incorporate advanced data analytics techniques to derive deeper insights from market data, enabling the development of more sophisticated trading strategies.</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Natural Language Processing (NLP):</a:t>
            </a:r>
            <a:endParaRPr lang="en-US"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Implement NLP capabilities to analyze financial news and social media sentiments, providing additional inputs for informed trading decisions.</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Multi-Platform Compatibility:</a:t>
            </a:r>
            <a:endParaRPr lang="en-US"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Extend the bot's functionality to be compatible with multiple trading platforms, offering users flexibility and a broader range of investment opportunities.</a:t>
            </a:r>
          </a:p>
          <a:p>
            <a:pPr algn="l">
              <a:buFont typeface="+mj-lt"/>
              <a:buAutoNum type="arabicPeriod"/>
            </a:pPr>
            <a:r>
              <a:rPr lang="en-US" b="1" i="0" dirty="0">
                <a:effectLst/>
                <a:latin typeface="Times New Roman" panose="02020603050405020304" pitchFamily="18" charset="0"/>
                <a:cs typeface="Times New Roman" panose="02020603050405020304" pitchFamily="18" charset="0"/>
              </a:rPr>
              <a:t>User-Defined Strategies:</a:t>
            </a:r>
            <a:endParaRPr lang="en-US" b="0" i="0" dirty="0">
              <a:effectLst/>
              <a:latin typeface="Times New Roman" panose="02020603050405020304" pitchFamily="18" charset="0"/>
              <a:cs typeface="Times New Roman" panose="02020603050405020304" pitchFamily="18" charset="0"/>
            </a:endParaRPr>
          </a:p>
          <a:p>
            <a:pPr marL="800100" lvl="1" indent="-342900" algn="l">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Develop a user-friendly interface allowing traders to define and customize their own trading strategies, tailoring the bot's behavior to individual preferences.</a:t>
            </a:r>
          </a:p>
          <a:p>
            <a:pPr marL="0" lvl="0" indent="0">
              <a:lnSpc>
                <a:spcPct val="107000"/>
              </a:lnSpc>
              <a:buNone/>
            </a:pPr>
            <a:endParaRPr lang="en-IN"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9"/>
          <p:cNvSpPr txBox="1">
            <a:spLocks noGrp="1"/>
          </p:cNvSpPr>
          <p:nvPr>
            <p:ph type="title"/>
          </p:nvPr>
        </p:nvSpPr>
        <p:spPr>
          <a:xfrm>
            <a:off x="190500" y="106363"/>
            <a:ext cx="8763000" cy="80803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Calibri"/>
              <a:buNone/>
            </a:pPr>
            <a:r>
              <a:rPr lang="en-US"/>
              <a:t>References</a:t>
            </a:r>
            <a:endParaRPr>
              <a:latin typeface="Calibri"/>
              <a:ea typeface="Calibri"/>
              <a:cs typeface="Calibri"/>
              <a:sym typeface="Calibri"/>
            </a:endParaRPr>
          </a:p>
        </p:txBody>
      </p:sp>
      <p:sp>
        <p:nvSpPr>
          <p:cNvPr id="211" name="Google Shape;211;p29"/>
          <p:cNvSpPr txBox="1">
            <a:spLocks noGrp="1"/>
          </p:cNvSpPr>
          <p:nvPr>
            <p:ph type="body" idx="1"/>
          </p:nvPr>
        </p:nvSpPr>
        <p:spPr>
          <a:xfrm>
            <a:off x="190500" y="990600"/>
            <a:ext cx="8763000" cy="5334000"/>
          </a:xfrm>
          <a:prstGeom prst="rect">
            <a:avLst/>
          </a:prstGeom>
          <a:noFill/>
          <a:ln>
            <a:noFill/>
          </a:ln>
        </p:spPr>
        <p:txBody>
          <a:bodyPr spcFirstLastPara="1" wrap="square" lIns="91425" tIns="45700" rIns="91425" bIns="45700" anchor="t" anchorCtr="0">
            <a:normAutofit fontScale="92500" lnSpcReduction="20000"/>
          </a:bodyPr>
          <a:lstStyle/>
          <a:p>
            <a:pPr algn="l"/>
            <a:endParaRPr lang="en-IN" sz="16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[1] </a:t>
            </a:r>
            <a:r>
              <a:rPr lang="en-US" sz="1800" b="0" i="0" u="none" strike="noStrike" baseline="0" dirty="0" err="1">
                <a:solidFill>
                  <a:srgbClr val="000000"/>
                </a:solidFill>
                <a:latin typeface="Times New Roman" panose="02020603050405020304" pitchFamily="18" charset="0"/>
              </a:rPr>
              <a:t>Lehalle</a:t>
            </a:r>
            <a:r>
              <a:rPr lang="en-US" sz="1800" b="0" i="0" u="none" strike="noStrike" baseline="0" dirty="0">
                <a:solidFill>
                  <a:srgbClr val="000000"/>
                </a:solidFill>
                <a:latin typeface="Times New Roman" panose="02020603050405020304" pitchFamily="18" charset="0"/>
              </a:rPr>
              <a:t>, C. A., &amp; </a:t>
            </a:r>
            <a:r>
              <a:rPr lang="en-US" sz="1800" b="0" i="0" u="none" strike="noStrike" baseline="0" dirty="0" err="1">
                <a:solidFill>
                  <a:srgbClr val="000000"/>
                </a:solidFill>
                <a:latin typeface="Times New Roman" panose="02020603050405020304" pitchFamily="18" charset="0"/>
              </a:rPr>
              <a:t>Laruelle</a:t>
            </a:r>
            <a:r>
              <a:rPr lang="en-US" sz="1800" b="0" i="0" u="none" strike="noStrike" baseline="0" dirty="0">
                <a:solidFill>
                  <a:srgbClr val="000000"/>
                </a:solidFill>
                <a:latin typeface="Times New Roman" panose="02020603050405020304" pitchFamily="18" charset="0"/>
              </a:rPr>
              <a:t>, S. (2013). Market microstructure in practice. World </a:t>
            </a:r>
            <a:r>
              <a:rPr lang="en-US" sz="1800" b="0" i="0" u="none" strike="noStrike" baseline="0" dirty="0" err="1">
                <a:solidFill>
                  <a:srgbClr val="000000"/>
                </a:solidFill>
                <a:latin typeface="Times New Roman" panose="02020603050405020304" pitchFamily="18" charset="0"/>
              </a:rPr>
              <a:t>ScientificPublishing</a:t>
            </a:r>
            <a:r>
              <a:rPr lang="en-US" sz="1800" b="0" i="0" u="none" strike="noStrike" baseline="0" dirty="0">
                <a:solidFill>
                  <a:srgbClr val="000000"/>
                </a:solidFill>
                <a:latin typeface="Times New Roman" panose="02020603050405020304" pitchFamily="18" charset="0"/>
              </a:rPr>
              <a:t>. </a:t>
            </a:r>
          </a:p>
          <a:p>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[2] Dinesh, S. (2019). Automation anywhere vs UiPath – A detailed comparison. International Journal of Innovative Technology and Exploring Engineering, 8(10), 1902-1906. </a:t>
            </a:r>
          </a:p>
          <a:p>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[3] </a:t>
            </a:r>
            <a:r>
              <a:rPr lang="en-US" sz="1800" b="0" i="0" u="none" strike="noStrike" baseline="0" dirty="0" err="1">
                <a:solidFill>
                  <a:srgbClr val="000000"/>
                </a:solidFill>
                <a:latin typeface="Times New Roman" panose="02020603050405020304" pitchFamily="18" charset="0"/>
              </a:rPr>
              <a:t>Bunawan</a:t>
            </a:r>
            <a:r>
              <a:rPr lang="en-US" sz="1800" b="0" i="0" u="none" strike="noStrike" baseline="0" dirty="0">
                <a:solidFill>
                  <a:srgbClr val="000000"/>
                </a:solidFill>
                <a:latin typeface="Times New Roman" panose="02020603050405020304" pitchFamily="18" charset="0"/>
              </a:rPr>
              <a:t>, A. A., </a:t>
            </a:r>
            <a:r>
              <a:rPr lang="en-US" sz="1800" b="0" i="0" u="none" strike="noStrike" baseline="0" dirty="0" err="1">
                <a:solidFill>
                  <a:srgbClr val="000000"/>
                </a:solidFill>
                <a:latin typeface="Times New Roman" panose="02020603050405020304" pitchFamily="18" charset="0"/>
              </a:rPr>
              <a:t>Wulandari</a:t>
            </a:r>
            <a:r>
              <a:rPr lang="en-US" sz="1800" b="0" i="0" u="none" strike="noStrike" baseline="0" dirty="0">
                <a:solidFill>
                  <a:srgbClr val="000000"/>
                </a:solidFill>
                <a:latin typeface="Times New Roman" panose="02020603050405020304" pitchFamily="18" charset="0"/>
              </a:rPr>
              <a:t>, M. L., &amp; Utami, I. (2020). Web scraping and data </a:t>
            </a:r>
            <a:r>
              <a:rPr lang="en-US" sz="1800" b="0" i="0" u="none" strike="noStrike" baseline="0" dirty="0" err="1">
                <a:solidFill>
                  <a:srgbClr val="000000"/>
                </a:solidFill>
                <a:latin typeface="Times New Roman" panose="02020603050405020304" pitchFamily="18" charset="0"/>
              </a:rPr>
              <a:t>miningtechniques</a:t>
            </a:r>
            <a:r>
              <a:rPr lang="en-US" sz="1800" b="0" i="0" u="none" strike="noStrike" baseline="0" dirty="0">
                <a:solidFill>
                  <a:srgbClr val="000000"/>
                </a:solidFill>
                <a:latin typeface="Times New Roman" panose="02020603050405020304" pitchFamily="18" charset="0"/>
              </a:rPr>
              <a:t> in the context of financial market. Journal of Physics: Conference Series, 1431(1), 012097. </a:t>
            </a:r>
          </a:p>
          <a:p>
            <a:endParaRPr lang="en-IN"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[4] Hasbrouck, J., &amp; Saar, G. (2013). Low-latency trading. Journal of Financial Markets,16(4), 646-679. </a:t>
            </a:r>
          </a:p>
          <a:p>
            <a:endParaRPr lang="en-IN" sz="1800" b="0" i="0" u="none" strike="noStrike" baseline="0" dirty="0">
              <a:solidFill>
                <a:srgbClr val="000000"/>
              </a:solidFill>
              <a:latin typeface="Times New Roman" panose="02020603050405020304" pitchFamily="18" charset="0"/>
            </a:endParaRPr>
          </a:p>
          <a:p>
            <a:r>
              <a:rPr lang="en-IN" sz="1800" b="0" i="0" u="none" strike="noStrike" baseline="0" dirty="0">
                <a:solidFill>
                  <a:srgbClr val="000000"/>
                </a:solidFill>
                <a:latin typeface="Times New Roman" panose="02020603050405020304" pitchFamily="18" charset="0"/>
              </a:rPr>
              <a:t>[5] Dunston, P. S., Viljoen, N., &amp; Dyson, L. E. (2018). Dynamic web element </a:t>
            </a:r>
            <a:r>
              <a:rPr lang="en-IN" sz="1800" b="0" i="0" u="none" strike="noStrike" baseline="0" dirty="0" err="1">
                <a:solidFill>
                  <a:srgbClr val="000000"/>
                </a:solidFill>
                <a:latin typeface="Times New Roman" panose="02020603050405020304" pitchFamily="18" charset="0"/>
              </a:rPr>
              <a:t>identificationand</a:t>
            </a:r>
            <a:r>
              <a:rPr lang="en-IN" sz="1800" b="0" i="0" u="none" strike="noStrike" baseline="0" dirty="0">
                <a:solidFill>
                  <a:srgbClr val="000000"/>
                </a:solidFill>
                <a:latin typeface="Times New Roman" panose="02020603050405020304" pitchFamily="18" charset="0"/>
              </a:rPr>
              <a:t> management in test automation. 2018 IEEE International Conference on Software Testing, Verification and Validation (ICST), 138-148. </a:t>
            </a:r>
          </a:p>
          <a:p>
            <a:pPr marL="0" lvl="0" indent="0">
              <a:lnSpc>
                <a:spcPct val="150000"/>
              </a:lnSpc>
              <a:buNone/>
            </a:pPr>
            <a:endParaRPr lang="en-IN" sz="1800" dirty="0">
              <a:effectLst/>
              <a:latin typeface="Calibri" panose="020F0502020204030204" pitchFamily="34" charset="0"/>
              <a:ea typeface="Calibri" panose="020F050202020403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0"/>
          <p:cNvSpPr/>
          <p:nvPr/>
        </p:nvSpPr>
        <p:spPr>
          <a:xfrm>
            <a:off x="2532822" y="2321005"/>
            <a:ext cx="4078361"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Queries</a:t>
            </a:r>
            <a:endParaRPr sz="96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1"/>
          <p:cNvSpPr/>
          <p:nvPr/>
        </p:nvSpPr>
        <p:spPr>
          <a:xfrm>
            <a:off x="727460" y="2321005"/>
            <a:ext cx="7689093"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Demonstration</a:t>
            </a:r>
            <a:endParaRPr sz="9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2"/>
          <p:cNvSpPr/>
          <p:nvPr/>
        </p:nvSpPr>
        <p:spPr>
          <a:xfrm>
            <a:off x="1844234" y="2321005"/>
            <a:ext cx="5455532" cy="156966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9600">
                <a:solidFill>
                  <a:schemeClr val="dk1"/>
                </a:solidFill>
                <a:latin typeface="Calibri"/>
                <a:ea typeface="Calibri"/>
                <a:cs typeface="Calibri"/>
                <a:sym typeface="Calibri"/>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1765</Words>
  <Application>Microsoft Office PowerPoint</Application>
  <PresentationFormat>On-screen Show (4:3)</PresentationFormat>
  <Paragraphs>109</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Times New Roman</vt:lpstr>
      <vt:lpstr>Söhne</vt:lpstr>
      <vt:lpstr>Open Sans ExtraBold</vt:lpstr>
      <vt:lpstr>Calibri</vt:lpstr>
      <vt:lpstr>Arial</vt:lpstr>
      <vt:lpstr>Noto Sans Symbols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Process Design</vt:lpstr>
      <vt:lpstr>Implementation Module 1</vt:lpstr>
      <vt:lpstr>Implementation Module 2</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M.Nanda Kumaran</dc:creator>
  <cp:lastModifiedBy>M.Nanda Kumaran</cp:lastModifiedBy>
  <cp:revision>4</cp:revision>
  <dcterms:modified xsi:type="dcterms:W3CDTF">2023-11-24T18:09:32Z</dcterms:modified>
</cp:coreProperties>
</file>